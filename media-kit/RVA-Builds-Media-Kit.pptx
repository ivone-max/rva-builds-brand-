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image" Target="../media/image13.jpg"/><Relationship Id="rId4" Type="http://schemas.openxmlformats.org/officeDocument/2006/relationships/image" Target="../media/image14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15.jpg"/><Relationship Id="rId4" Type="http://schemas.openxmlformats.org/officeDocument/2006/relationships/image" Target="../media/image16.jpg"/><Relationship Id="rId5" Type="http://schemas.openxmlformats.org/officeDocument/2006/relationships/image" Target="../media/image17.jpg"/><Relationship Id="rId6" Type="http://schemas.openxmlformats.org/officeDocument/2006/relationships/image" Target="../media/image18.jpg"/><Relationship Id="rId7" Type="http://schemas.openxmlformats.org/officeDocument/2006/relationships/image" Target="../media/image19.jpg"/><Relationship Id="rId8" Type="http://schemas.openxmlformats.org/officeDocument/2006/relationships/image" Target="../media/image20.jpg"/><Relationship Id="rId9" Type="http://schemas.openxmlformats.org/officeDocument/2006/relationships/image" Target="../media/image2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rva-builds-logo-d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40080"/>
            <a:ext cx="1592221" cy="4572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85800" y="1447800"/>
            <a:ext cx="201168" cy="25400"/>
          </a:xfrm>
          <a:prstGeom prst="rect">
            <a:avLst/>
          </a:prstGeom>
          <a:solidFill>
            <a:srgbClr val="F15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8408" y="137160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15C2C"/>
                </a:solidFill>
                <a:latin typeface="Schibsted Grotesk"/>
              </a:rPr>
              <a:t>RVA BUILDS · MEDIA KIT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783080"/>
            <a:ext cx="5760720" cy="20116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1A1A1A"/>
                </a:solidFill>
                <a:latin typeface="Space Grotesk"/>
              </a:rPr>
              <a:t>Represent the brand </a:t>
            </a:r>
            <a:r>
              <a:rPr sz="4000" b="1">
                <a:solidFill>
                  <a:srgbClr val="F15C2C"/>
                </a:solidFill>
                <a:latin typeface="Space Grotesk"/>
              </a:rPr>
              <a:t>the right way.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063240"/>
            <a:ext cx="51206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5A5A5A"/>
                </a:solidFill>
                <a:latin typeface="Schibsted Grotesk"/>
              </a:rPr>
              <a:t>Logos, colors, type, tone &amp; voice, key facts, and photography — built to match the live site at rvabuilds.us.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12648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5A5A5A"/>
                </a:solidFill>
                <a:latin typeface="Space Grotesk"/>
              </a:rPr>
              <a:t>MEDIA KIT · V1 · RICHMOND, VA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03720" y="1051560"/>
            <a:ext cx="4617720" cy="4617720"/>
          </a:xfrm>
          <a:prstGeom prst="roundRect">
            <a:avLst>
              <a:gd name="adj" fmla="val 6000"/>
            </a:avLst>
          </a:prstGeom>
          <a:solidFill>
            <a:srgbClr val="F15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hero-connection.jpg"/>
          <p:cNvPicPr>
            <a:picLocks noChangeAspect="1"/>
          </p:cNvPicPr>
          <p:nvPr/>
        </p:nvPicPr>
        <p:blipFill>
          <a:blip r:embed="rId3"/>
          <a:srcRect l="12125" r="12125"/>
          <a:stretch>
            <a:fillRect/>
          </a:stretch>
        </p:blipFill>
        <p:spPr>
          <a:xfrm>
            <a:off x="6675120" y="822960"/>
            <a:ext cx="4617720" cy="46177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79120"/>
            <a:ext cx="201168" cy="25400"/>
          </a:xfrm>
          <a:prstGeom prst="rect">
            <a:avLst/>
          </a:prstGeom>
          <a:solidFill>
            <a:srgbClr val="F15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029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15C2C"/>
                </a:solidFill>
                <a:latin typeface="Schibsted Grotesk"/>
              </a:rPr>
              <a:t>01 · ABOUT RVA BUILDS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14400"/>
            <a:ext cx="10820095" cy="9144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A1A1A"/>
                </a:solidFill>
                <a:latin typeface="Space Grotesk"/>
              </a:rPr>
              <a:t>Build a career in the trades, </a:t>
            </a:r>
            <a:r>
              <a:rPr sz="3000" b="1">
                <a:solidFill>
                  <a:srgbClr val="F15C2C"/>
                </a:solidFill>
                <a:latin typeface="Space Grotesk"/>
              </a:rPr>
              <a:t>before you graduate.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600200"/>
            <a:ext cx="108200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>
                <a:solidFill>
                  <a:srgbClr val="5A5A5A"/>
                </a:solidFill>
                <a:latin typeface="Schibsted Grotesk"/>
              </a:rPr>
              <a:t>RVA Builds connects Richmond Public Schools students with paid, hands-on careers in construction and the skilled trades, before they even graduate. A Richmond Ed Fund initiative, backed by Bloomberg Philanthropies, moving students into Registered Apprenticeships in electrical, HVAC, welding, and construction.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5146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5A5A5A"/>
                </a:solidFill>
                <a:latin typeface="Space Grotesk"/>
              </a:rPr>
              <a:t>BY THE NUMBERS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2834640"/>
            <a:ext cx="10820095" cy="0"/>
          </a:xfrm>
          <a:prstGeom prst="line">
            <a:avLst/>
          </a:prstGeom>
          <a:ln w="12700">
            <a:solidFill>
              <a:srgbClr val="E4E4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2971800"/>
            <a:ext cx="252214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A1A1A"/>
                </a:solidFill>
                <a:latin typeface="Space Grotesk"/>
              </a:rPr>
              <a:t>150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611880"/>
            <a:ext cx="252214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A5A5A"/>
                </a:solidFill>
                <a:latin typeface="Schibsted Grotesk"/>
              </a:rPr>
              <a:t>RPS grads aimed at registered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5A5A5A"/>
                </a:solidFill>
                <a:latin typeface="Schibsted Grotesk"/>
              </a:rPr>
              <a:t>apprenticeships in 3 years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90823" y="2971800"/>
            <a:ext cx="252214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A1A1A"/>
                </a:solidFill>
                <a:latin typeface="Space Grotesk"/>
              </a:rPr>
              <a:t>500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90823" y="3611880"/>
            <a:ext cx="252214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A5A5A"/>
                </a:solidFill>
                <a:latin typeface="Schibsted Grotesk"/>
              </a:rPr>
              <a:t>Students in paid trades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5A5A5A"/>
                </a:solidFill>
                <a:latin typeface="Schibsted Grotesk"/>
              </a:rPr>
              <a:t>learning by 2028–29 (goal)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299383.75" y="2880360"/>
            <a:ext cx="0.0" cy="1325880"/>
          </a:xfrm>
          <a:prstGeom prst="line">
            <a:avLst/>
          </a:prstGeom>
          <a:ln w="12700">
            <a:solidFill>
              <a:srgbClr val="E4E4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095847" y="2971800"/>
            <a:ext cx="252214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A1A1A"/>
                </a:solidFill>
                <a:latin typeface="Space Grotesk"/>
              </a:rPr>
              <a:t>17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5847" y="3611880"/>
            <a:ext cx="252214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A5A5A"/>
                </a:solidFill>
                <a:latin typeface="Schibsted Grotesk"/>
              </a:rPr>
              <a:t>Partners: schools, the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5A5A5A"/>
                </a:solidFill>
                <a:latin typeface="Schibsted Grotesk"/>
              </a:rPr>
              <a:t>city, business &amp; unions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004407.5" y="2880360"/>
            <a:ext cx="0.0" cy="1325880"/>
          </a:xfrm>
          <a:prstGeom prst="line">
            <a:avLst/>
          </a:prstGeom>
          <a:ln w="12700">
            <a:solidFill>
              <a:srgbClr val="E4E4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8800871" y="2971800"/>
            <a:ext cx="252214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A1A1A"/>
                </a:solidFill>
                <a:latin typeface="Space Grotesk"/>
              </a:rPr>
              <a:t>120+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00871" y="3611880"/>
            <a:ext cx="252214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A5A5A"/>
                </a:solidFill>
                <a:latin typeface="Schibsted Grotesk"/>
              </a:rPr>
              <a:t>Paid work-based learning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5A5A5A"/>
                </a:solidFill>
                <a:latin typeface="Schibsted Grotesk"/>
              </a:rPr>
              <a:t>hours per student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709431.25" y="2880360"/>
            <a:ext cx="0.0" cy="1325880"/>
          </a:xfrm>
          <a:prstGeom prst="line">
            <a:avLst/>
          </a:prstGeom>
          <a:ln w="12700">
            <a:solidFill>
              <a:srgbClr val="E4E4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85800" y="4434840"/>
            <a:ext cx="10820095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A1A1A"/>
                </a:solidFill>
                <a:latin typeface="Schibsted Grotesk"/>
              </a:rPr>
              <a:t>$8M </a:t>
            </a:r>
            <a:r>
              <a:rPr sz="1300" b="0">
                <a:solidFill>
                  <a:srgbClr val="5A5A5A"/>
                </a:solidFill>
                <a:latin typeface="Schibsted Grotesk"/>
              </a:rPr>
              <a:t>Bloomberg Philanthropies investment      </a:t>
            </a:r>
            <a:r>
              <a:rPr sz="1300" b="1">
                <a:solidFill>
                  <a:srgbClr val="1A1A1A"/>
                </a:solidFill>
                <a:latin typeface="Schibsted Grotesk"/>
              </a:rPr>
              <a:t>$23/hr </a:t>
            </a:r>
            <a:r>
              <a:rPr sz="1300" b="0">
                <a:solidFill>
                  <a:srgbClr val="5A5A5A"/>
                </a:solidFill>
                <a:latin typeface="Schibsted Grotesk"/>
              </a:rPr>
              <a:t>minimum total comp. after graduation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5029200"/>
            <a:ext cx="1106424" cy="292608"/>
          </a:xfrm>
          <a:prstGeom prst="roundRect">
            <a:avLst>
              <a:gd name="adj" fmla="val 50000"/>
            </a:avLst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1100" b="1">
                <a:solidFill>
                  <a:srgbClr val="5A5A5A"/>
                </a:solidFill>
                <a:latin typeface="Space Grotesk"/>
              </a:rPr>
              <a:t>Hopeful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901952" y="5029200"/>
            <a:ext cx="1581912" cy="292608"/>
          </a:xfrm>
          <a:prstGeom prst="roundRect">
            <a:avLst>
              <a:gd name="adj" fmla="val 50000"/>
            </a:avLst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1100" b="1">
                <a:solidFill>
                  <a:srgbClr val="5A5A5A"/>
                </a:solidFill>
                <a:latin typeface="Space Grotesk"/>
              </a:rPr>
              <a:t>Trustworthy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593592" y="5029200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1100" b="1">
                <a:solidFill>
                  <a:srgbClr val="5A5A5A"/>
                </a:solidFill>
                <a:latin typeface="Space Grotesk"/>
              </a:rPr>
              <a:t>Civic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0" y="5029200"/>
            <a:ext cx="749808" cy="292608"/>
          </a:xfrm>
          <a:prstGeom prst="roundRect">
            <a:avLst>
              <a:gd name="adj" fmla="val 50000"/>
            </a:avLst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1100" b="1">
                <a:solidFill>
                  <a:srgbClr val="5A5A5A"/>
                </a:solidFill>
                <a:latin typeface="Space Grotesk"/>
              </a:rPr>
              <a:t>Warm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31536" y="5029200"/>
            <a:ext cx="1819656" cy="292608"/>
          </a:xfrm>
          <a:prstGeom prst="roundRect">
            <a:avLst>
              <a:gd name="adj" fmla="val 50000"/>
            </a:avLst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1100" b="1">
                <a:solidFill>
                  <a:srgbClr val="5A5A5A"/>
                </a:solidFill>
                <a:latin typeface="Space Grotesk"/>
              </a:rPr>
              <a:t>Data-informed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60920" y="5029200"/>
            <a:ext cx="1344168" cy="292608"/>
          </a:xfrm>
          <a:prstGeom prst="roundRect">
            <a:avLst>
              <a:gd name="adj" fmla="val 50000"/>
            </a:avLst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1100" b="1">
                <a:solidFill>
                  <a:srgbClr val="5A5A5A"/>
                </a:solidFill>
                <a:latin typeface="Space Grotesk"/>
              </a:rPr>
              <a:t>Editorial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79120"/>
            <a:ext cx="201168" cy="25400"/>
          </a:xfrm>
          <a:prstGeom prst="rect">
            <a:avLst/>
          </a:prstGeom>
          <a:solidFill>
            <a:srgbClr val="F15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029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15C2C"/>
                </a:solidFill>
                <a:latin typeface="Schibsted Grotesk"/>
              </a:rPr>
              <a:t>02 · LOGO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14400"/>
            <a:ext cx="108200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1A1A"/>
                </a:solidFill>
                <a:latin typeface="Space Grotesk"/>
              </a:rPr>
              <a:t>Horizontal lockup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63040"/>
            <a:ext cx="108200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5A5A5A"/>
                </a:solidFill>
                <a:latin typeface="Schibsted Grotesk"/>
              </a:rPr>
              <a:t>The default lockup — a crane lifting the "VA" cube, building Richmond’s future brick by brick.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148840"/>
            <a:ext cx="2602153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rva-builds-logo-d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506761"/>
            <a:ext cx="2602153" cy="74719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22960" y="3703320"/>
            <a:ext cx="2327833" cy="32004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100">
                <a:solidFill>
                  <a:srgbClr val="5A5A5A"/>
                </a:solidFill>
                <a:latin typeface="Schibsted Grotesk"/>
              </a:rPr>
              <a:t>Full color · on white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5113" y="2148840"/>
            <a:ext cx="2602153" cy="1920240"/>
          </a:xfrm>
          <a:prstGeom prst="roundRect">
            <a:avLst>
              <a:gd name="adj" fmla="val 6000"/>
            </a:avLst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rva-builds-logo-light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5113" y="2506761"/>
            <a:ext cx="2602153" cy="74719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562273" y="3703320"/>
            <a:ext cx="2327833" cy="32004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100">
                <a:solidFill>
                  <a:srgbClr val="FFFFFF"/>
                </a:solidFill>
                <a:latin typeface="Schibsted Grotesk"/>
              </a:rPr>
              <a:t>Full color · on dark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4427" y="2148840"/>
            <a:ext cx="2602153" cy="1920240"/>
          </a:xfrm>
          <a:prstGeom prst="roundRect">
            <a:avLst>
              <a:gd name="adj" fmla="val 6000"/>
            </a:avLst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rva-builds-logo-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64427" y="2631984"/>
            <a:ext cx="2602153" cy="49675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301587" y="3703320"/>
            <a:ext cx="2327833" cy="32004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100">
                <a:solidFill>
                  <a:srgbClr val="5A5A5A"/>
                </a:solidFill>
                <a:latin typeface="Schibsted Grotesk"/>
              </a:rPr>
              <a:t>Mono dark · on white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03741" y="2148840"/>
            <a:ext cx="2602153" cy="1920240"/>
          </a:xfrm>
          <a:prstGeom prst="roundRect">
            <a:avLst>
              <a:gd name="adj" fmla="val 6000"/>
            </a:avLst>
          </a:prstGeom>
          <a:solidFill>
            <a:srgbClr val="F15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rva-builds-logo-ligh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03741" y="2631984"/>
            <a:ext cx="2602153" cy="49675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040901" y="3703320"/>
            <a:ext cx="2327833" cy="32004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100">
                <a:solidFill>
                  <a:srgbClr val="FFFFFF"/>
                </a:solidFill>
                <a:latin typeface="Schibsted Grotesk"/>
              </a:rPr>
              <a:t>Mono white · on color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79120"/>
            <a:ext cx="201168" cy="25400"/>
          </a:xfrm>
          <a:prstGeom prst="rect">
            <a:avLst/>
          </a:prstGeom>
          <a:solidFill>
            <a:srgbClr val="F15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029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15C2C"/>
                </a:solidFill>
                <a:latin typeface="Schibsted Grotesk"/>
              </a:rPr>
              <a:t>02 · LOGO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14400"/>
            <a:ext cx="108200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1A1A"/>
                </a:solidFill>
                <a:latin typeface="Space Grotesk"/>
              </a:rPr>
              <a:t>Stacked lockup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63040"/>
            <a:ext cx="108200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5A5A5A"/>
                </a:solidFill>
                <a:latin typeface="Schibsted Grotesk"/>
              </a:rPr>
              <a:t>For square or vertical placements. Built in-house from the existing mark — no separate source file existed.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148840"/>
            <a:ext cx="2602153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rva-builds-logo-stacked-d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170682"/>
            <a:ext cx="2602153" cy="14193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22960" y="3703320"/>
            <a:ext cx="2327833" cy="32004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100">
                <a:solidFill>
                  <a:srgbClr val="5A5A5A"/>
                </a:solidFill>
                <a:latin typeface="Schibsted Grotesk"/>
              </a:rPr>
              <a:t>Full color · on white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5113" y="2148840"/>
            <a:ext cx="2602153" cy="1920240"/>
          </a:xfrm>
          <a:prstGeom prst="roundRect">
            <a:avLst>
              <a:gd name="adj" fmla="val 6000"/>
            </a:avLst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rva-builds-logo-stacked-light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5113" y="2170682"/>
            <a:ext cx="2602153" cy="141935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562273" y="3703320"/>
            <a:ext cx="2327833" cy="32004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100">
                <a:solidFill>
                  <a:srgbClr val="FFFFFF"/>
                </a:solidFill>
                <a:latin typeface="Schibsted Grotesk"/>
              </a:rPr>
              <a:t>Full color · on dark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4427" y="2148840"/>
            <a:ext cx="2602153" cy="1920240"/>
          </a:xfrm>
          <a:prstGeom prst="roundRect">
            <a:avLst>
              <a:gd name="adj" fmla="val 6000"/>
            </a:avLst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rva-builds-logo-stacked-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64427" y="2235878"/>
            <a:ext cx="2602153" cy="1288963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301587" y="3703320"/>
            <a:ext cx="2327833" cy="32004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100">
                <a:solidFill>
                  <a:srgbClr val="5A5A5A"/>
                </a:solidFill>
                <a:latin typeface="Schibsted Grotesk"/>
              </a:rPr>
              <a:t>Mono dark · on white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03741" y="2148840"/>
            <a:ext cx="2602153" cy="1920240"/>
          </a:xfrm>
          <a:prstGeom prst="roundRect">
            <a:avLst>
              <a:gd name="adj" fmla="val 6000"/>
            </a:avLst>
          </a:prstGeom>
          <a:solidFill>
            <a:srgbClr val="F15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rva-builds-logo-stacked-ligh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03741" y="2235878"/>
            <a:ext cx="2602153" cy="1288963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040901" y="3703320"/>
            <a:ext cx="2327833" cy="32004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100">
                <a:solidFill>
                  <a:srgbClr val="FFFFFF"/>
                </a:solidFill>
                <a:latin typeface="Schibsted Grotesk"/>
              </a:rPr>
              <a:t>Mono white · on color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79120"/>
            <a:ext cx="201168" cy="25400"/>
          </a:xfrm>
          <a:prstGeom prst="rect">
            <a:avLst/>
          </a:prstGeom>
          <a:solidFill>
            <a:srgbClr val="F15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029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15C2C"/>
                </a:solidFill>
                <a:latin typeface="Schibsted Grotesk"/>
              </a:rPr>
              <a:t>02 · LOGO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14400"/>
            <a:ext cx="108200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1A1A"/>
                </a:solidFill>
                <a:latin typeface="Space Grotesk"/>
              </a:rPr>
              <a:t>Icon, endorsement &amp; usage rules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6002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5A5A5A"/>
                </a:solidFill>
                <a:latin typeface="Space Grotesk"/>
              </a:rPr>
              <a:t>ICON / APP MARK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920240"/>
            <a:ext cx="1005840" cy="1005840"/>
          </a:xfrm>
          <a:prstGeom prst="roundRect">
            <a:avLst>
              <a:gd name="adj" fmla="val 15000"/>
            </a:avLst>
          </a:prstGeom>
          <a:solidFill>
            <a:srgbClr val="F15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rva-builds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920240"/>
            <a:ext cx="1005839" cy="1005839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1828800" y="1920240"/>
            <a:ext cx="1005840" cy="100584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rva-builds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1005839" cy="1005839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2971800" y="1920240"/>
            <a:ext cx="1005840" cy="1005840"/>
          </a:xfrm>
          <a:prstGeom prst="roundRect">
            <a:avLst>
              <a:gd name="adj" fmla="val 15000"/>
            </a:avLst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rva-builds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1800" y="1920240"/>
            <a:ext cx="1005839" cy="1005839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4251960" y="1920240"/>
            <a:ext cx="7253935" cy="1005840"/>
          </a:xfrm>
          <a:prstGeom prst="roundRect">
            <a:avLst>
              <a:gd name="adj" fmla="val 8000"/>
            </a:avLst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richmond-ed-fund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5403" y="1920240"/>
            <a:ext cx="3787048" cy="10058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85800" y="320040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F8A4C"/>
                </a:solidFill>
                <a:latin typeface="Space Grotesk"/>
              </a:rPr>
              <a:t>Do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3611880"/>
            <a:ext cx="51206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5A5A5A"/>
                </a:solidFill>
                <a:latin typeface="Schibsted Grotesk"/>
              </a:rPr>
              <a:t>✓  Keep clear space equal to the height of the cube icon.</a:t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5A5A5A"/>
                </a:solidFill>
                <a:latin typeface="Schibsted Grotesk"/>
              </a:rPr>
              <a:t>✓  Use full color on white or photography with a dark overlay.</a:t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5A5A5A"/>
                </a:solidFill>
                <a:latin typeface="Schibsted Grotesk"/>
              </a:rPr>
              <a:t>✓  Scale proportionally — never stretch.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72200" y="320040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C0392B"/>
                </a:solidFill>
                <a:latin typeface="Space Grotesk"/>
              </a:rPr>
              <a:t>Don't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2200" y="3611880"/>
            <a:ext cx="53035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5A5A5A"/>
                </a:solidFill>
                <a:latin typeface="Schibsted Grotesk"/>
              </a:rPr>
              <a:t>✕  Don't recolor the cube or crane outside the brand palette.</a:t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5A5A5A"/>
                </a:solidFill>
                <a:latin typeface="Schibsted Grotesk"/>
              </a:rPr>
              <a:t>✕  Don't add shadows, outlines, or effects to the mark.</a:t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5A5A5A"/>
                </a:solidFill>
                <a:latin typeface="Schibsted Grotesk"/>
              </a:rPr>
              <a:t>✕  Don't rotate, skew, or crowd the logo.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79120"/>
            <a:ext cx="201168" cy="25400"/>
          </a:xfrm>
          <a:prstGeom prst="rect">
            <a:avLst/>
          </a:prstGeom>
          <a:solidFill>
            <a:srgbClr val="F15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029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15C2C"/>
                </a:solidFill>
                <a:latin typeface="Schibsted Grotesk"/>
              </a:rPr>
              <a:t>03 · COLOR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14400"/>
            <a:ext cx="108200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1A1A"/>
                </a:solidFill>
                <a:latin typeface="Space Grotesk"/>
              </a:rPr>
              <a:t>Color palette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63040"/>
            <a:ext cx="108200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5A5A5A"/>
                </a:solidFill>
                <a:latin typeface="Schibsted Grotesk"/>
              </a:rPr>
              <a:t>Coral is the dominant brand color. Blue and purple are audience cues — blue for employers, purple for candidates.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103120"/>
            <a:ext cx="1711909" cy="1051560"/>
          </a:xfrm>
          <a:prstGeom prst="roundRect">
            <a:avLst>
              <a:gd name="adj" fmla="val 8000"/>
            </a:avLst>
          </a:prstGeom>
          <a:solidFill>
            <a:srgbClr val="F15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3246120"/>
            <a:ext cx="171190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A1A1A"/>
                </a:solidFill>
                <a:latin typeface="Space Grotesk"/>
              </a:rPr>
              <a:t>Coral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520440"/>
            <a:ext cx="171190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5A5A"/>
                </a:solidFill>
                <a:latin typeface="Schibsted Grotesk"/>
              </a:rPr>
              <a:t>#F15C2C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07437" y="2103120"/>
            <a:ext cx="1711909" cy="1051560"/>
          </a:xfrm>
          <a:prstGeom prst="roundRect">
            <a:avLst>
              <a:gd name="adj" fmla="val 8000"/>
            </a:avLst>
          </a:prstGeom>
          <a:solidFill>
            <a:srgbClr val="329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07437" y="3246120"/>
            <a:ext cx="171190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A1A1A"/>
                </a:solidFill>
                <a:latin typeface="Space Grotesk"/>
              </a:rPr>
              <a:t>Blue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07437" y="3520440"/>
            <a:ext cx="171190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5A5A"/>
                </a:solidFill>
                <a:latin typeface="Schibsted Grotesk"/>
              </a:rPr>
              <a:t>#329FE6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29074" y="2103120"/>
            <a:ext cx="1711909" cy="1051560"/>
          </a:xfrm>
          <a:prstGeom prst="roundRect">
            <a:avLst>
              <a:gd name="adj" fmla="val 8000"/>
            </a:avLst>
          </a:prstGeom>
          <a:solidFill>
            <a:srgbClr val="7A35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29074" y="3246120"/>
            <a:ext cx="171190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A1A1A"/>
                </a:solidFill>
                <a:latin typeface="Space Grotesk"/>
              </a:rPr>
              <a:t>Purple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9074" y="3520440"/>
            <a:ext cx="171190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5A5A"/>
                </a:solidFill>
                <a:latin typeface="Schibsted Grotesk"/>
              </a:rPr>
              <a:t>#7A35AE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0711" y="2103120"/>
            <a:ext cx="1711909" cy="1051560"/>
          </a:xfrm>
          <a:prstGeom prst="roundRect">
            <a:avLst>
              <a:gd name="adj" fmla="val 8000"/>
            </a:avLst>
          </a:prstGeom>
          <a:solidFill>
            <a:srgbClr val="F6F6F6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50711" y="3246120"/>
            <a:ext cx="171190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A1A1A"/>
                </a:solidFill>
                <a:latin typeface="Space Grotesk"/>
              </a:rPr>
              <a:t>Surface Soft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50711" y="3520440"/>
            <a:ext cx="171190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5A5A"/>
                </a:solidFill>
                <a:latin typeface="Schibsted Grotesk"/>
              </a:rPr>
              <a:t>#F6F6F6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72348" y="2103120"/>
            <a:ext cx="1711909" cy="1051560"/>
          </a:xfrm>
          <a:prstGeom prst="roundRect">
            <a:avLst>
              <a:gd name="adj" fmla="val 8000"/>
            </a:avLst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72348" y="3246120"/>
            <a:ext cx="171190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A1A1A"/>
                </a:solidFill>
                <a:latin typeface="Space Grotesk"/>
              </a:rPr>
              <a:t>Ink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72348" y="3520440"/>
            <a:ext cx="171190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5A5A"/>
                </a:solidFill>
                <a:latin typeface="Schibsted Grotesk"/>
              </a:rPr>
              <a:t>#1A1A1A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793985" y="2103120"/>
            <a:ext cx="1711909" cy="1051560"/>
          </a:xfrm>
          <a:prstGeom prst="roundRect">
            <a:avLst>
              <a:gd name="adj" fmla="val 8000"/>
            </a:avLst>
          </a:prstGeom>
          <a:solidFill>
            <a:srgbClr val="5A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93985" y="3246120"/>
            <a:ext cx="171190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A1A1A"/>
                </a:solidFill>
                <a:latin typeface="Space Grotesk"/>
              </a:rPr>
              <a:t>Ink Muted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93985" y="3520440"/>
            <a:ext cx="171190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5A5A"/>
                </a:solidFill>
                <a:latin typeface="Schibsted Grotesk"/>
              </a:rPr>
              <a:t>#5A5A5A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" y="4206240"/>
            <a:ext cx="10820095" cy="1005840"/>
          </a:xfrm>
          <a:prstGeom prst="roundRect">
            <a:avLst>
              <a:gd name="adj" fmla="val 5000"/>
            </a:avLst>
          </a:prstGeom>
          <a:solidFill>
            <a:srgbClr val="FD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85800" y="4206240"/>
            <a:ext cx="54864" cy="1005840"/>
          </a:xfrm>
          <a:prstGeom prst="rect">
            <a:avLst/>
          </a:prstGeom>
          <a:solidFill>
            <a:srgbClr val="F15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0120" y="4343400"/>
            <a:ext cx="10271455" cy="8229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1A1A1A"/>
                </a:solidFill>
                <a:latin typeface="Schibsted Grotesk"/>
              </a:rPr>
              <a:t>Accessibility: </a:t>
            </a:r>
            <a:r>
              <a:rPr sz="1250" b="0">
                <a:solidFill>
                  <a:srgbClr val="1A1A1A"/>
                </a:solidFill>
                <a:latin typeface="Schibsted Grotesk"/>
              </a:rPr>
              <a:t>Coral on white is ≈3.3:1 — use for large text, buttons, and UI only, never small body copy. Body text is always Ink #1A1A1A.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79120"/>
            <a:ext cx="201168" cy="25400"/>
          </a:xfrm>
          <a:prstGeom prst="rect">
            <a:avLst/>
          </a:prstGeom>
          <a:solidFill>
            <a:srgbClr val="F15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029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15C2C"/>
                </a:solidFill>
                <a:latin typeface="Schibsted Grotesk"/>
              </a:rPr>
              <a:t>04 · TYPOGRAPHY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14400"/>
            <a:ext cx="108200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1A1A"/>
                </a:solidFill>
                <a:latin typeface="Space Grotesk"/>
              </a:rPr>
              <a:t>Typography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63040"/>
            <a:ext cx="10820095" cy="4572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A1A1A"/>
                </a:solidFill>
                <a:latin typeface="Schibsted Grotesk"/>
              </a:rPr>
              <a:t>Space Grotesk </a:t>
            </a:r>
            <a:r>
              <a:rPr sz="1350" b="0">
                <a:solidFill>
                  <a:srgbClr val="5A5A5A"/>
                </a:solidFill>
                <a:latin typeface="Schibsted Grotesk"/>
              </a:rPr>
              <a:t>for headlines, </a:t>
            </a:r>
            <a:r>
              <a:rPr sz="1350" b="1">
                <a:solidFill>
                  <a:srgbClr val="1A1A1A"/>
                </a:solidFill>
                <a:latin typeface="Schibsted Grotesk"/>
              </a:rPr>
              <a:t>Schibsted Grotesk </a:t>
            </a:r>
            <a:r>
              <a:rPr sz="1350" b="0">
                <a:solidFill>
                  <a:srgbClr val="5A5A5A"/>
                </a:solidFill>
                <a:latin typeface="Schibsted Grotesk"/>
              </a:rPr>
              <a:t>for body — both free (SIL OFL) via Google Fonts.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5A5A"/>
                </a:solidFill>
                <a:latin typeface="Schibsted Grotesk"/>
              </a:rPr>
              <a:t>DISPLAY / HEADINGS · SPACE GROTESK 700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377440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1A1A1A"/>
                </a:solidFill>
                <a:latin typeface="Space Grotesk"/>
              </a:rPr>
              <a:t>Building futures in Richmond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2918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5A5A"/>
                </a:solidFill>
                <a:latin typeface="Schibsted Grotesk"/>
              </a:rPr>
              <a:t>BODY / UI · SCHIBSTED GROTESK 400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566160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1A1A1A"/>
                </a:solidFill>
                <a:latin typeface="Schibsted Grotesk"/>
              </a:rPr>
              <a:t>Apprenticeships turn ambition into a career. RVA Builds pairs local talent with employers ready to train, mentor, and hire.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4805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5A5A"/>
                </a:solidFill>
                <a:latin typeface="Schibsted Grotesk"/>
              </a:rPr>
              <a:t>TYPE SCALE · 1.250 MAJOR-THIRD · 16PX BASE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800600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5A5A"/>
                </a:solidFill>
                <a:latin typeface="Consolas"/>
              </a:rPr>
              <a:t>H1 · 40/700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31720" y="4800600"/>
            <a:ext cx="5486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A1A1A"/>
                </a:solidFill>
                <a:latin typeface="Space Grotesk"/>
              </a:rPr>
              <a:t>Join the program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184648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5A5A"/>
                </a:solidFill>
                <a:latin typeface="Consolas"/>
              </a:rPr>
              <a:t>H2 · 32/600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31720" y="5184648"/>
            <a:ext cx="5486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A1A1A"/>
                </a:solidFill>
                <a:latin typeface="Space Grotesk"/>
              </a:rPr>
              <a:t>Join the program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5568696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5A5A"/>
                </a:solidFill>
                <a:latin typeface="Consolas"/>
              </a:rPr>
              <a:t>Body · 16/400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31720" y="5568696"/>
            <a:ext cx="5486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1A1A1A"/>
                </a:solidFill>
                <a:latin typeface="Schibsted Grotesk"/>
              </a:rPr>
              <a:t>Join the program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952744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5A5A"/>
                </a:solidFill>
                <a:latin typeface="Consolas"/>
              </a:rPr>
              <a:t>Caption · 14/400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31720" y="5952744"/>
            <a:ext cx="5486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1A1A"/>
                </a:solidFill>
                <a:latin typeface="Schibsted Grotesk"/>
              </a:rPr>
              <a:t>Join the program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79120"/>
            <a:ext cx="201168" cy="25400"/>
          </a:xfrm>
          <a:prstGeom prst="rect">
            <a:avLst/>
          </a:prstGeom>
          <a:solidFill>
            <a:srgbClr val="F15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029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15C2C"/>
                </a:solidFill>
                <a:latin typeface="Schibsted Grotesk"/>
              </a:rPr>
              <a:t>05 · TONE &amp; VOICE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14400"/>
            <a:ext cx="108200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1A1A"/>
                </a:solidFill>
                <a:latin typeface="Space Grotesk"/>
              </a:rPr>
              <a:t>How RVA Builds sounds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63040"/>
            <a:ext cx="108200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5A5A5A"/>
                </a:solidFill>
                <a:latin typeface="Schibsted Grotesk"/>
              </a:rPr>
              <a:t>Hopeful, trustworthy, civic, warm, data-informed, editorial.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057400"/>
            <a:ext cx="3515258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2194560"/>
            <a:ext cx="318607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A1A1A"/>
                </a:solidFill>
                <a:latin typeface="Space Grotesk"/>
              </a:rPr>
              <a:t>Hopeful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0392" y="2560320"/>
            <a:ext cx="3186074" cy="502920"/>
          </a:xfrm>
          <a:prstGeom prst="roundRect">
            <a:avLst>
              <a:gd name="adj" fmla="val 15000"/>
            </a:avLst>
          </a:prstGeom>
          <a:solidFill>
            <a:srgbClr val="FD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2606040"/>
            <a:ext cx="301233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1A1A1A"/>
                </a:solidFill>
                <a:latin typeface="Schibsted Grotesk"/>
              </a:rPr>
              <a:t>“A choice-filled life is the standard.”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3154680"/>
            <a:ext cx="318607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5A5A"/>
                </a:solidFill>
                <a:latin typeface="Schibsted Grotesk"/>
              </a:rPr>
              <a:t>Not fear-first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057400"/>
            <a:ext cx="3515258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02810" y="2194560"/>
            <a:ext cx="318607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A1A1A"/>
                </a:solidFill>
                <a:latin typeface="Space Grotesk"/>
              </a:rPr>
              <a:t>Trustworthy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02810" y="2560320"/>
            <a:ext cx="3186074" cy="502920"/>
          </a:xfrm>
          <a:prstGeom prst="roundRect">
            <a:avLst>
              <a:gd name="adj" fmla="val 15000"/>
            </a:avLst>
          </a:prstGeom>
          <a:solidFill>
            <a:srgbClr val="FD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94250" y="2606040"/>
            <a:ext cx="301233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1A1A1A"/>
                </a:solidFill>
                <a:latin typeface="Schibsted Grotesk"/>
              </a:rPr>
              <a:t>“500 students, 17 partners, by 2028–29.”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02810" y="3154680"/>
            <a:ext cx="318607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5A5A"/>
                </a:solidFill>
                <a:latin typeface="Schibsted Grotesk"/>
              </a:rPr>
              <a:t>Not vague superlatives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90636" y="2057400"/>
            <a:ext cx="3515258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55228" y="2194560"/>
            <a:ext cx="318607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A1A1A"/>
                </a:solidFill>
                <a:latin typeface="Space Grotesk"/>
              </a:rPr>
              <a:t>Civic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55228" y="2560320"/>
            <a:ext cx="3186074" cy="502920"/>
          </a:xfrm>
          <a:prstGeom prst="roundRect">
            <a:avLst>
              <a:gd name="adj" fmla="val 15000"/>
            </a:avLst>
          </a:prstGeom>
          <a:solidFill>
            <a:srgbClr val="FD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46668" y="2606040"/>
            <a:ext cx="301233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1A1A1A"/>
                </a:solidFill>
                <a:latin typeface="Schibsted Grotesk"/>
              </a:rPr>
              <a:t>“Right here in Richmond, Virginia.”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55228" y="3154680"/>
            <a:ext cx="318607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5A5A"/>
                </a:solidFill>
                <a:latin typeface="Schibsted Grotesk"/>
              </a:rPr>
              <a:t>Not placeless copy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3794760"/>
            <a:ext cx="3515258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3931920"/>
            <a:ext cx="318607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A1A1A"/>
                </a:solidFill>
                <a:latin typeface="Space Grotesk"/>
              </a:rPr>
              <a:t>Warm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0392" y="4297680"/>
            <a:ext cx="3186074" cy="502920"/>
          </a:xfrm>
          <a:prstGeom prst="roundRect">
            <a:avLst>
              <a:gd name="adj" fmla="val 15000"/>
            </a:avLst>
          </a:prstGeom>
          <a:solidFill>
            <a:srgbClr val="FD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2" y="4343400"/>
            <a:ext cx="301233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1A1A1A"/>
                </a:solidFill>
                <a:latin typeface="Schibsted Grotesk"/>
              </a:rPr>
              <a:t>“A student earning a paycheck and a future.”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" y="4892040"/>
            <a:ext cx="318607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5A5A"/>
                </a:solidFill>
                <a:latin typeface="Schibsted Grotesk"/>
              </a:rPr>
              <a:t>Not “human capital”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38218" y="3794760"/>
            <a:ext cx="3515258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02810" y="3931920"/>
            <a:ext cx="318607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A1A1A"/>
                </a:solidFill>
                <a:latin typeface="Space Grotesk"/>
              </a:rPr>
              <a:t>Data-informed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02810" y="4297680"/>
            <a:ext cx="3186074" cy="502920"/>
          </a:xfrm>
          <a:prstGeom prst="roundRect">
            <a:avLst>
              <a:gd name="adj" fmla="val 15000"/>
            </a:avLst>
          </a:prstGeom>
          <a:solidFill>
            <a:srgbClr val="FD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94250" y="4343400"/>
            <a:ext cx="301233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1A1A1A"/>
                </a:solidFill>
                <a:latin typeface="Schibsted Grotesk"/>
              </a:rPr>
              <a:t>“$23/hour minimum after graduation.”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02810" y="4892040"/>
            <a:ext cx="318607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5A5A"/>
                </a:solidFill>
                <a:latin typeface="Schibsted Grotesk"/>
              </a:rPr>
              <a:t>Not unsourced stats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990636" y="3794760"/>
            <a:ext cx="3515258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55228" y="3931920"/>
            <a:ext cx="318607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A1A1A"/>
                </a:solidFill>
                <a:latin typeface="Space Grotesk"/>
              </a:rPr>
              <a:t>Editorial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155228" y="4297680"/>
            <a:ext cx="3186074" cy="502920"/>
          </a:xfrm>
          <a:prstGeom prst="roundRect">
            <a:avLst>
              <a:gd name="adj" fmla="val 15000"/>
            </a:avLst>
          </a:prstGeom>
          <a:solidFill>
            <a:srgbClr val="FD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46668" y="4343400"/>
            <a:ext cx="301233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1A1A1A"/>
                </a:solidFill>
                <a:latin typeface="Schibsted Grotesk"/>
              </a:rPr>
              <a:t>Full sentences, active voice, real quotes.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55228" y="4892040"/>
            <a:ext cx="318607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5A5A"/>
                </a:solidFill>
                <a:latin typeface="Schibsted Grotesk"/>
              </a:rPr>
              <a:t>Not jargon strings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79120"/>
            <a:ext cx="201168" cy="25400"/>
          </a:xfrm>
          <a:prstGeom prst="rect">
            <a:avLst/>
          </a:prstGeom>
          <a:solidFill>
            <a:srgbClr val="F15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029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15C2C"/>
                </a:solidFill>
                <a:latin typeface="Schibsted Grotesk"/>
              </a:rPr>
              <a:t>05 · TONE &amp; VOICE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14400"/>
            <a:ext cx="108200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1A1A"/>
                </a:solidFill>
                <a:latin typeface="Space Grotesk"/>
              </a:rPr>
              <a:t>Audience-specific voice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63040"/>
            <a:ext cx="108200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5A5A5A"/>
                </a:solidFill>
                <a:latin typeface="Schibsted Grotesk"/>
              </a:rPr>
              <a:t>The candidate card is verbatim from the live “For Students” page on rvabuilds.us — the calibration point for tone.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286000"/>
            <a:ext cx="3515258" cy="2651760"/>
          </a:xfrm>
          <a:prstGeom prst="roundRect">
            <a:avLst>
              <a:gd name="adj" fmla="val 6000"/>
            </a:avLst>
          </a:prstGeom>
          <a:solidFill>
            <a:srgbClr val="7A35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2487168"/>
            <a:ext cx="311292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Space Grotesk"/>
              </a:rPr>
              <a:t>TO CANDIDATES · LIVE COPY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971800"/>
            <a:ext cx="3112922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FFFFFF"/>
                </a:solidFill>
                <a:latin typeface="Schibsted Grotesk"/>
              </a:rPr>
              <a:t>“Get paid to learn a career you’ll keep.” Earn paid hours in the skilled trades and graduate straight into a real apprenticeship, at no cost to you.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8218" y="2286000"/>
            <a:ext cx="3515258" cy="2651760"/>
          </a:xfrm>
          <a:prstGeom prst="roundRect">
            <a:avLst>
              <a:gd name="adj" fmla="val 6000"/>
            </a:avLst>
          </a:prstGeom>
          <a:solidFill>
            <a:srgbClr val="329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39386" y="2487168"/>
            <a:ext cx="311292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Space Grotesk"/>
              </a:rPr>
              <a:t>TO EMPLOYERS · ILLUSTRATIVE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39386" y="2971800"/>
            <a:ext cx="3112922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FFFFFF"/>
                </a:solidFill>
                <a:latin typeface="Schibsted Grotesk"/>
              </a:rPr>
              <a:t>“Train your next hire while they’re still in school — a clear path to a Registered Apprenticeship.”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90636" y="2286000"/>
            <a:ext cx="3515258" cy="2651760"/>
          </a:xfrm>
          <a:prstGeom prst="roundRect">
            <a:avLst>
              <a:gd name="adj" fmla="val 6000"/>
            </a:avLst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91804" y="2487168"/>
            <a:ext cx="311292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Space Grotesk"/>
              </a:rPr>
              <a:t>TO PRESS · ILLUSTRATIVE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91804" y="2971800"/>
            <a:ext cx="3112922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FFFFFF"/>
                </a:solidFill>
                <a:latin typeface="Schibsted Grotesk"/>
              </a:rPr>
              <a:t>“Backed by Bloomberg Philanthropies, RVA Builds is Richmond Ed Fund’s citywide push into the skilled trades.”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79120"/>
            <a:ext cx="201168" cy="25400"/>
          </a:xfrm>
          <a:prstGeom prst="rect">
            <a:avLst/>
          </a:prstGeom>
          <a:solidFill>
            <a:srgbClr val="F15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029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15C2C"/>
                </a:solidFill>
                <a:latin typeface="Schibsted Grotesk"/>
              </a:rPr>
              <a:t>06 · VOICES &amp; LEADERSHIP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14400"/>
            <a:ext cx="108200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1A1A"/>
                </a:solidFill>
                <a:latin typeface="Space Grotesk"/>
              </a:rPr>
              <a:t>Quotes for press use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63040"/>
            <a:ext cx="108200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5A5A5A"/>
                </a:solidFill>
                <a:latin typeface="Schibsted Grotesk"/>
              </a:rPr>
              <a:t>Approved leadership quotes, paired with headshots for editorial and press use.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103120"/>
            <a:ext cx="3515258" cy="2834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286000"/>
            <a:ext cx="3149498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A1A1A"/>
                </a:solidFill>
                <a:latin typeface="Schibsted Grotesk"/>
              </a:rPr>
              <a:t>Our students deserve to graduate with real options. A choice-filled life is not a slogan; it’s a standard we hold ourselves to.</a:t>
            </a:r>
          </a:p>
        </p:txBody>
      </p:sp>
      <p:pic>
        <p:nvPicPr>
          <p:cNvPr id="9" name="Picture 8" descr="jason-kamras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868680" y="4251960"/>
            <a:ext cx="457200" cy="457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435608" y="4233672"/>
            <a:ext cx="269229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A1A1A"/>
                </a:solidFill>
                <a:latin typeface="Space Grotesk"/>
              </a:rPr>
              <a:t>Jason Kamras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35608" y="4471416"/>
            <a:ext cx="269229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5A5A"/>
                </a:solidFill>
                <a:latin typeface="Schibsted Grotesk"/>
              </a:rPr>
              <a:t>Superintendent, RPS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103120"/>
            <a:ext cx="3515258" cy="2834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1098" y="2286000"/>
            <a:ext cx="3149498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A1A1A"/>
                </a:solidFill>
                <a:latin typeface="Schibsted Grotesk"/>
              </a:rPr>
              <a:t>By building direct pipelines from the classroom to local employers, we ensure young people have a clear path to stable careers.</a:t>
            </a:r>
          </a:p>
        </p:txBody>
      </p:sp>
      <p:pic>
        <p:nvPicPr>
          <p:cNvPr id="14" name="Picture 13" descr="danny-avula.jp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4521098" y="4251960"/>
            <a:ext cx="457200" cy="4572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088026" y="4233672"/>
            <a:ext cx="269229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A1A1A"/>
                </a:solidFill>
                <a:latin typeface="Space Grotesk"/>
              </a:rPr>
              <a:t>Danny Avula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88026" y="4471416"/>
            <a:ext cx="269229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5A5A"/>
                </a:solidFill>
                <a:latin typeface="Schibsted Grotesk"/>
              </a:rPr>
              <a:t>Mayor of Richmond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90636" y="2103120"/>
            <a:ext cx="3515258" cy="2834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73516" y="2286000"/>
            <a:ext cx="3149498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A1A1A"/>
                </a:solidFill>
                <a:latin typeface="Schibsted Grotesk"/>
              </a:rPr>
              <a:t>Too many of our students leave high school without a real path to a career that can support a family. RVA Builds changes that.</a:t>
            </a:r>
          </a:p>
        </p:txBody>
      </p:sp>
      <p:pic>
        <p:nvPicPr>
          <p:cNvPr id="19" name="Picture 18" descr="taikein-cooper.jpg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8173516" y="4251960"/>
            <a:ext cx="457200" cy="4572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740444" y="4233672"/>
            <a:ext cx="269229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A1A1A"/>
                </a:solidFill>
                <a:latin typeface="Space Grotesk"/>
              </a:rPr>
              <a:t>Taikein Cooper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40444" y="4471416"/>
            <a:ext cx="269229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5A5A"/>
                </a:solidFill>
                <a:latin typeface="Schibsted Grotesk"/>
              </a:rPr>
              <a:t>CEO, Richmond Ed Fund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79120"/>
            <a:ext cx="201168" cy="25400"/>
          </a:xfrm>
          <a:prstGeom prst="rect">
            <a:avLst/>
          </a:prstGeom>
          <a:solidFill>
            <a:srgbClr val="F15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029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15C2C"/>
                </a:solidFill>
                <a:latin typeface="Schibsted Grotesk"/>
              </a:rPr>
              <a:t>07 · ELEMENTS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14400"/>
            <a:ext cx="108200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1A1A"/>
                </a:solidFill>
                <a:latin typeface="Space Grotesk"/>
              </a:rPr>
              <a:t>Site patterns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55448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5A5A5A"/>
                </a:solidFill>
                <a:latin typeface="Space Grotesk"/>
              </a:rPr>
              <a:t>BUTTONS &amp; AUDIENCE CUES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74519"/>
            <a:ext cx="1618488" cy="457200"/>
          </a:xfrm>
          <a:prstGeom prst="roundRect">
            <a:avLst>
              <a:gd name="adj" fmla="val 50000"/>
            </a:avLst>
          </a:prstGeom>
          <a:solidFill>
            <a:srgbClr val="F15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Space Grotesk"/>
              </a:rPr>
              <a:t>Apply now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41448" y="1874519"/>
            <a:ext cx="2093976" cy="457200"/>
          </a:xfrm>
          <a:prstGeom prst="roundRect">
            <a:avLst>
              <a:gd name="adj" fmla="val 50000"/>
            </a:avLst>
          </a:prstGeom>
          <a:solidFill>
            <a:srgbClr val="7A35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Space Grotesk"/>
              </a:rPr>
              <a:t>I'm a student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72584" y="1874519"/>
            <a:ext cx="2331720" cy="457200"/>
          </a:xfrm>
          <a:prstGeom prst="roundRect">
            <a:avLst>
              <a:gd name="adj" fmla="val 50000"/>
            </a:avLst>
          </a:prstGeom>
          <a:solidFill>
            <a:srgbClr val="329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Space Grotesk"/>
              </a:rPr>
              <a:t>I'm an employer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41464" y="1874519"/>
            <a:ext cx="173736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50" b="1">
                <a:solidFill>
                  <a:srgbClr val="1A1A1A"/>
                </a:solidFill>
                <a:latin typeface="Space Grotesk"/>
              </a:rPr>
              <a:t>Learn more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60604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5A5A5A"/>
                </a:solidFill>
                <a:latin typeface="Space Grotesk"/>
              </a:rPr>
              <a:t>NAVIGATION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926080"/>
            <a:ext cx="10820095" cy="6400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136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A1A1A"/>
                </a:solidFill>
                <a:latin typeface="Space Grotesk"/>
              </a:rPr>
              <a:t>RVA Builds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06040" y="3136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A"/>
                </a:solidFill>
                <a:latin typeface="Space Grotesk"/>
              </a:rPr>
              <a:t>For Students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06040" y="3401568"/>
            <a:ext cx="960120" cy="19050"/>
          </a:xfrm>
          <a:prstGeom prst="rect">
            <a:avLst/>
          </a:prstGeom>
          <a:solidFill>
            <a:srgbClr val="F15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03320" y="3136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A5A5A"/>
                </a:solidFill>
                <a:latin typeface="Space Grotesk"/>
              </a:rPr>
              <a:t>For Employers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951415" y="3035808"/>
            <a:ext cx="1371600" cy="420624"/>
          </a:xfrm>
          <a:prstGeom prst="roundRect">
            <a:avLst>
              <a:gd name="adj" fmla="val 50000"/>
            </a:avLst>
          </a:prstGeom>
          <a:solidFill>
            <a:srgbClr val="F15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Space Grotesk"/>
              </a:rPr>
              <a:t>Apply now 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79476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5A5A5A"/>
                </a:solidFill>
                <a:latin typeface="Space Grotesk"/>
              </a:rPr>
              <a:t>FEATURE CARDS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4160520"/>
            <a:ext cx="502920" cy="502920"/>
          </a:xfrm>
          <a:prstGeom prst="roundRect">
            <a:avLst>
              <a:gd name="adj" fmla="val 25000"/>
            </a:avLst>
          </a:prstGeom>
          <a:solidFill>
            <a:srgbClr val="FD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71600" y="4142232"/>
            <a:ext cx="4587087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A1A1A"/>
                </a:solidFill>
                <a:latin typeface="Space Grotesk"/>
              </a:rPr>
              <a:t>Current RPS students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4434840"/>
            <a:ext cx="458708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5A5A5A"/>
                </a:solidFill>
                <a:latin typeface="Schibsted Grotesk"/>
              </a:rPr>
              <a:t>Open to Richmond Public Schools high schoolers exploring the trades.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3007" y="4160520"/>
            <a:ext cx="502920" cy="502920"/>
          </a:xfrm>
          <a:prstGeom prst="roundRect">
            <a:avLst>
              <a:gd name="adj" fmla="val 25000"/>
            </a:avLst>
          </a:prstGeom>
          <a:solidFill>
            <a:srgbClr val="FD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18807" y="4142232"/>
            <a:ext cx="4587087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A1A1A"/>
                </a:solidFill>
                <a:latin typeface="Space Grotesk"/>
              </a:rPr>
              <a:t>No experience needed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18807" y="4434840"/>
            <a:ext cx="458708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5A5A5A"/>
                </a:solidFill>
                <a:latin typeface="Schibsted Grotesk"/>
              </a:rPr>
              <a:t>You don't need a résumé full of jobs, just the drive to learn.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79120"/>
            <a:ext cx="201168" cy="25400"/>
          </a:xfrm>
          <a:prstGeom prst="rect">
            <a:avLst/>
          </a:prstGeom>
          <a:solidFill>
            <a:srgbClr val="F15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029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15C2C"/>
                </a:solidFill>
                <a:latin typeface="Schibsted Grotesk"/>
              </a:rPr>
              <a:t>08 · PHOTOGRAPHY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14400"/>
            <a:ext cx="108200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1A1A"/>
                </a:solidFill>
                <a:latin typeface="Space Grotesk"/>
              </a:rPr>
              <a:t>Photography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63040"/>
            <a:ext cx="108200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5A5A5A"/>
                </a:solidFill>
                <a:latin typeface="Schibsted Grotesk"/>
              </a:rPr>
              <a:t>Real Richmond students, families, and workplaces — candid, warm, full of natural light.</a:t>
            </a:r>
          </a:p>
        </p:txBody>
      </p:sp>
      <p:pic>
        <p:nvPicPr>
          <p:cNvPr id="7" name="Picture 6" descr="hero-connection.jpg"/>
          <p:cNvPicPr>
            <a:picLocks noChangeAspect="1"/>
          </p:cNvPicPr>
          <p:nvPr/>
        </p:nvPicPr>
        <p:blipFill>
          <a:blip r:embed="rId2"/>
          <a:srcRect t="5930" b="5930"/>
          <a:stretch>
            <a:fillRect/>
          </a:stretch>
        </p:blipFill>
        <p:spPr>
          <a:xfrm>
            <a:off x="685800" y="2103120"/>
            <a:ext cx="2602153" cy="17373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85800" y="3867912"/>
            <a:ext cx="260215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5A5A"/>
                </a:solidFill>
                <a:latin typeface="Schibsted Grotesk"/>
              </a:rPr>
              <a:t>Connection &amp; optimism</a:t>
            </a:r>
          </a:p>
        </p:txBody>
      </p:sp>
      <p:pic>
        <p:nvPicPr>
          <p:cNvPr id="9" name="Picture 8" descr="day-one-2024.jpg"/>
          <p:cNvPicPr>
            <a:picLocks noChangeAspect="1"/>
          </p:cNvPicPr>
          <p:nvPr/>
        </p:nvPicPr>
        <p:blipFill>
          <a:blip r:embed="rId3"/>
          <a:srcRect l="75" r="75"/>
          <a:stretch>
            <a:fillRect/>
          </a:stretch>
        </p:blipFill>
        <p:spPr>
          <a:xfrm>
            <a:off x="3425113" y="2103120"/>
            <a:ext cx="2602153" cy="17373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425113" y="3867912"/>
            <a:ext cx="260215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5A5A"/>
                </a:solidFill>
                <a:latin typeface="Schibsted Grotesk"/>
              </a:rPr>
              <a:t>Day One 2024</a:t>
            </a:r>
          </a:p>
        </p:txBody>
      </p:sp>
      <p:pic>
        <p:nvPicPr>
          <p:cNvPr id="11" name="Picture 10" descr="tj-grad.jpg"/>
          <p:cNvPicPr>
            <a:picLocks noChangeAspect="1"/>
          </p:cNvPicPr>
          <p:nvPr/>
        </p:nvPicPr>
        <p:blipFill>
          <a:blip r:embed="rId4"/>
          <a:srcRect l="50" r="50"/>
          <a:stretch>
            <a:fillRect/>
          </a:stretch>
        </p:blipFill>
        <p:spPr>
          <a:xfrm>
            <a:off x="6164427" y="2103120"/>
            <a:ext cx="2602153" cy="17373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64427" y="3867912"/>
            <a:ext cx="260215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5A5A"/>
                </a:solidFill>
                <a:latin typeface="Schibsted Grotesk"/>
              </a:rPr>
              <a:t>TJ Graduation</a:t>
            </a:r>
          </a:p>
        </p:txBody>
      </p:sp>
      <p:pic>
        <p:nvPicPr>
          <p:cNvPr id="13" name="Picture 12" descr="teacher-orientation.jpg"/>
          <p:cNvPicPr>
            <a:picLocks noChangeAspect="1"/>
          </p:cNvPicPr>
          <p:nvPr/>
        </p:nvPicPr>
        <p:blipFill>
          <a:blip r:embed="rId5"/>
          <a:srcRect l="75" r="75"/>
          <a:stretch>
            <a:fillRect/>
          </a:stretch>
        </p:blipFill>
        <p:spPr>
          <a:xfrm>
            <a:off x="8903741" y="2103120"/>
            <a:ext cx="2602153" cy="17373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903741" y="3867912"/>
            <a:ext cx="260215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5A5A"/>
                </a:solidFill>
                <a:latin typeface="Schibsted Grotesk"/>
              </a:rPr>
              <a:t>Teacher Orientation</a:t>
            </a:r>
          </a:p>
        </p:txBody>
      </p:sp>
      <p:pic>
        <p:nvPicPr>
          <p:cNvPr id="15" name="Picture 14" descr="mission-tomorrow.jpg"/>
          <p:cNvPicPr>
            <a:picLocks noChangeAspect="1"/>
          </p:cNvPicPr>
          <p:nvPr/>
        </p:nvPicPr>
        <p:blipFill>
          <a:blip r:embed="rId6"/>
          <a:srcRect l="75" r="75"/>
          <a:stretch>
            <a:fillRect/>
          </a:stretch>
        </p:blipFill>
        <p:spPr>
          <a:xfrm>
            <a:off x="685800" y="4160520"/>
            <a:ext cx="2602153" cy="17373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85800" y="5925312"/>
            <a:ext cx="260215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5A5A"/>
                </a:solidFill>
                <a:latin typeface="Schibsted Grotesk"/>
              </a:rPr>
              <a:t>Mission Tomorrow</a:t>
            </a:r>
          </a:p>
        </p:txBody>
      </p:sp>
      <p:pic>
        <p:nvPicPr>
          <p:cNvPr id="17" name="Picture 16" descr="summer-reading.jpg"/>
          <p:cNvPicPr>
            <a:picLocks noChangeAspect="1"/>
          </p:cNvPicPr>
          <p:nvPr/>
        </p:nvPicPr>
        <p:blipFill>
          <a:blip r:embed="rId7"/>
          <a:srcRect l="50" r="50"/>
          <a:stretch>
            <a:fillRect/>
          </a:stretch>
        </p:blipFill>
        <p:spPr>
          <a:xfrm>
            <a:off x="3425113" y="4160520"/>
            <a:ext cx="2602153" cy="173736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425113" y="5925312"/>
            <a:ext cx="260215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5A5A"/>
                </a:solidFill>
                <a:latin typeface="Schibsted Grotesk"/>
              </a:rPr>
              <a:t>Summer Reading</a:t>
            </a:r>
          </a:p>
        </p:txBody>
      </p:sp>
      <p:pic>
        <p:nvPicPr>
          <p:cNvPr id="19" name="Picture 18" descr="rps-shines-event.jpg"/>
          <p:cNvPicPr>
            <a:picLocks noChangeAspect="1"/>
          </p:cNvPicPr>
          <p:nvPr/>
        </p:nvPicPr>
        <p:blipFill>
          <a:blip r:embed="rId8"/>
          <a:srcRect l="75" r="75"/>
          <a:stretch>
            <a:fillRect/>
          </a:stretch>
        </p:blipFill>
        <p:spPr>
          <a:xfrm>
            <a:off x="6164427" y="4160520"/>
            <a:ext cx="2602153" cy="17373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164427" y="5925312"/>
            <a:ext cx="260215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5A5A"/>
                </a:solidFill>
                <a:latin typeface="Schibsted Grotesk"/>
              </a:rPr>
              <a:t>RPS Shines</a:t>
            </a:r>
          </a:p>
        </p:txBody>
      </p:sp>
      <p:pic>
        <p:nvPicPr>
          <p:cNvPr id="21" name="Picture 20" descr="library-study-space.jpg"/>
          <p:cNvPicPr>
            <a:picLocks noChangeAspect="1"/>
          </p:cNvPicPr>
          <p:nvPr/>
        </p:nvPicPr>
        <p:blipFill>
          <a:blip r:embed="rId9"/>
          <a:srcRect l="9186" r="9186"/>
          <a:stretch>
            <a:fillRect/>
          </a:stretch>
        </p:blipFill>
        <p:spPr>
          <a:xfrm>
            <a:off x="8903741" y="4160520"/>
            <a:ext cx="2602153" cy="173736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8903741" y="5925312"/>
            <a:ext cx="260215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5A5A"/>
                </a:solidFill>
                <a:latin typeface="Schibsted Grotesk"/>
              </a:rPr>
              <a:t>Library / study space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899160"/>
            <a:ext cx="201168" cy="25400"/>
          </a:xfrm>
          <a:prstGeom prst="rect">
            <a:avLst/>
          </a:prstGeom>
          <a:solidFill>
            <a:srgbClr val="F15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8229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15C2C"/>
                </a:solidFill>
                <a:latin typeface="Schibsted Grotesk"/>
              </a:rPr>
              <a:t>09 · MEDIA CONTACT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234440"/>
            <a:ext cx="108200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Space Grotesk"/>
              </a:rPr>
              <a:t>For press &amp; partnership inquiries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74519"/>
            <a:ext cx="8229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CCCCCC"/>
                </a:solidFill>
                <a:latin typeface="Schibsted Grotesk"/>
              </a:rPr>
              <a:t>Add the client's designated media contact — name, title, email, phone — before this kit is distributed outside the organization.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83464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999999"/>
                </a:solidFill>
                <a:latin typeface="Space Grotesk"/>
              </a:rPr>
              <a:t>FULL SOURCE FILES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200400"/>
            <a:ext cx="1082009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0">
                <a:solidFill>
                  <a:srgbClr val="FFFFFF"/>
                </a:solidFill>
                <a:latin typeface="Consolas"/>
              </a:rPr>
              <a:t>docs/palette.md · docs/brand-tokens.css</a:t>
            </a:r>
          </a:p>
          <a:p>
            <a:pPr algn="l">
              <a:lnSpc>
                <a:spcPct val="150000"/>
              </a:lnSpc>
            </a:pPr>
            <a:r>
              <a:rPr sz="1250" b="0">
                <a:solidFill>
                  <a:srgbClr val="FFFFFF"/>
                </a:solidFill>
                <a:latin typeface="Consolas"/>
              </a:rPr>
              <a:t>docs/typography.md</a:t>
            </a:r>
          </a:p>
          <a:p>
            <a:pPr algn="l">
              <a:lnSpc>
                <a:spcPct val="150000"/>
              </a:lnSpc>
            </a:pPr>
            <a:r>
              <a:rPr sz="1250" b="0">
                <a:solidFill>
                  <a:srgbClr val="FFFFFF"/>
                </a:solidFill>
                <a:latin typeface="Consolas"/>
              </a:rPr>
              <a:t>docs/tone-and-voice.md</a:t>
            </a:r>
          </a:p>
          <a:p>
            <a:pPr algn="l">
              <a:lnSpc>
                <a:spcPct val="150000"/>
              </a:lnSpc>
            </a:pPr>
            <a:r>
              <a:rPr sz="1250" b="0">
                <a:solidFill>
                  <a:srgbClr val="FFFFFF"/>
                </a:solidFill>
                <a:latin typeface="Consolas"/>
              </a:rPr>
              <a:t>docs/boilerplate.md — key facts, quotes, media contact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035040"/>
            <a:ext cx="108200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999999"/>
                </a:solidFill>
                <a:latin typeface="Schibsted Grotesk"/>
              </a:rPr>
              <a:t>A program of the Richmond Ed Fund · Program site: rvabuilds.us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