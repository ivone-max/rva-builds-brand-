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5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connection.jpg"/>
          <p:cNvPicPr>
            <a:picLocks noChangeAspect="1"/>
          </p:cNvPicPr>
          <p:nvPr/>
        </p:nvPicPr>
        <p:blipFill>
          <a:blip r:embed="rId2"/>
          <a:srcRect l="5561" r="5561"/>
          <a:stretch>
            <a:fillRect/>
          </a:stretch>
        </p:blipFill>
        <p:spPr>
          <a:xfrm>
            <a:off x="4145176" y="0"/>
            <a:ext cx="8046519" cy="6858000"/>
          </a:xfrm>
          <a:prstGeom prst="rect">
            <a:avLst/>
          </a:prstGeom>
        </p:spPr>
      </p:pic>
      <p:pic>
        <p:nvPicPr>
          <p:cNvPr id="4" name="Picture 3" descr="rva-builds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416052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Montserrat"/>
              </a:rPr>
              <a:t>RVA Builds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E3D8"/>
                </a:solidFill>
                <a:latin typeface="Montserrat"/>
              </a:rPr>
              <a:t>RICHMOND ED FUND INITIATIVE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ontserrat"/>
              </a:rPr>
              <a:t>BRAND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ontserrat"/>
              </a:rPr>
              <a:t>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What is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RVA Builds?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Lato"/>
              </a:rPr>
              <a:t>RVA Builds connects Richmond Public Schools students with paid, hands-on careers in construction and the skilled trades — before they even graduate. A Richmond Ed Fund initiative, backed by Bloomberg Philanthropies.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50915.5" y="2331720"/>
            <a:ext cx="6035040.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50915.5" y="3566160"/>
            <a:ext cx="6035040.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50915" y="2514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0915" y="3108960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RPS grads aimed at registered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apprenticeships in 3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675" y="2514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9675" y="3108960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Students in paid trades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learning by 2028–29 (goal)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435" y="2514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435" y="3108960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Partners: schools, the city,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business &amp; unions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7195" y="2514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120+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7195" y="3108960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Paid work-based learning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hours per student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5176" y="4023360"/>
            <a:ext cx="804651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A1A1A"/>
                </a:solidFill>
                <a:latin typeface="Montserrat"/>
              </a:rPr>
              <a:t>Build a career in the trades, </a:t>
            </a:r>
            <a:r>
              <a:rPr sz="1900" b="1">
                <a:solidFill>
                  <a:srgbClr val="F15C2C"/>
                </a:solidFill>
                <a:latin typeface="Montserrat"/>
              </a:rPr>
              <a:t>before you graduate.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Primary Logo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Reproduction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Lato"/>
              </a:rPr>
              <a:t>The primary logo is full color on a white background. Use this version wherever possible.</a:t>
            </a:r>
          </a:p>
        </p:txBody>
      </p:sp>
      <p:pic>
        <p:nvPicPr>
          <p:cNvPr id="7" name="Picture 6" descr="rva-builds-logo-d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76" y="2273737"/>
            <a:ext cx="8046519" cy="2310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Montserrat"/>
              </a:rPr>
              <a:t>Logo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Montserrat"/>
              </a:rPr>
              <a:t>Variations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5A5A5A"/>
                </a:solidFill>
                <a:latin typeface="Lato"/>
              </a:rPr>
              <a:t>The logo can also be used on a contextually colored background, as long as there's contrast.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45176" y="0"/>
            <a:ext cx="8046519" cy="3429000"/>
          </a:xfrm>
          <a:prstGeom prst="rect">
            <a:avLst/>
          </a:prstGeom>
          <a:solidFill>
            <a:srgbClr val="F15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45176" y="3429000"/>
            <a:ext cx="8046519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va-builds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76" y="946457"/>
            <a:ext cx="8046519" cy="1536085"/>
          </a:xfrm>
          <a:prstGeom prst="rect">
            <a:avLst/>
          </a:prstGeom>
        </p:spPr>
      </p:pic>
      <p:pic>
        <p:nvPicPr>
          <p:cNvPr id="10" name="Picture 9" descr="rva-builds-logo-light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176" y="3988237"/>
            <a:ext cx="8046519" cy="2310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Stacked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Lockup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Lato"/>
              </a:rPr>
              <a:t>For square or vertical placements — social avatars, signage, mobile headers.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45176" y="0"/>
            <a:ext cx="4023259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va-builds-logo-stacked-d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76" y="617248"/>
            <a:ext cx="4023259" cy="219450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68435" y="0"/>
            <a:ext cx="4023259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va-builds-logo-stacked-light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435" y="617248"/>
            <a:ext cx="4023259" cy="21945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45176" y="3429000"/>
            <a:ext cx="4023259" cy="34290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va-builds-logo-stacked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176" y="4147049"/>
            <a:ext cx="4023259" cy="199290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168435" y="3429000"/>
            <a:ext cx="4023259" cy="3429000"/>
          </a:xfrm>
          <a:prstGeom prst="rect">
            <a:avLst/>
          </a:prstGeom>
          <a:solidFill>
            <a:srgbClr val="F15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va-builds-logo-stacked-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435" y="4147049"/>
            <a:ext cx="4023259" cy="1992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Usage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Lato"/>
              </a:rPr>
              <a:t>No image or background should ever compete with the mark's clarity, and it must always appear in an approved color combination.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3816" y="2377440"/>
            <a:ext cx="35660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8A4C"/>
                </a:solidFill>
                <a:latin typeface="Montserrat"/>
              </a:rP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3816" y="2834640"/>
            <a:ext cx="35660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✓  Keep clear space equal to the height of the cube icon.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✓  Use full color on white or photography with a dark overlay.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✓  Use the white mono mark on coral, purple, blue, or busy photos.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✓  Scale proportionally — never stretch.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635" y="2377440"/>
            <a:ext cx="35660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Montserrat"/>
              </a:rPr>
              <a:t>Don't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5635" y="2834640"/>
            <a:ext cx="35660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✕  Don't recolor the cube or crane outside the brand palette.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✕  Don't place the full-color mark on low-contrast backgrounds.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✕  Don't add shadows, outlines, or effects to the mark.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✕  Don't rotate, skew, or crowd the logo.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Main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Colors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Lato"/>
              </a:rPr>
              <a:t>These colors represent the identity of RVA Builds — meant to build trust between candidates and employers.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1016" y="1965960"/>
            <a:ext cx="1371600" cy="822960"/>
          </a:xfrm>
          <a:prstGeom prst="rect">
            <a:avLst/>
          </a:prstGeom>
          <a:solidFill>
            <a:srgbClr val="F15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51216" y="198424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Montserrat"/>
              </a:rPr>
              <a:t>#F15C2C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1416" y="1965960"/>
            <a:ext cx="1463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R: 241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G: 92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B: 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1216" y="23317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Lato"/>
              </a:rPr>
              <a:t>Coral — primary /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1016" y="3200400"/>
            <a:ext cx="1371600" cy="822960"/>
          </a:xfrm>
          <a:prstGeom prst="rect">
            <a:avLst/>
          </a:prstGeom>
          <a:solidFill>
            <a:srgbClr val="329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51216" y="32186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Montserrat"/>
              </a:rPr>
              <a:t>#329FE6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416" y="3200400"/>
            <a:ext cx="1463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R: 50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G: 159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B: 230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1216" y="35661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Lato"/>
              </a:rPr>
              <a:t>Blue — employer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51016" y="4434840"/>
            <a:ext cx="1371600" cy="822960"/>
          </a:xfrm>
          <a:prstGeom prst="rect">
            <a:avLst/>
          </a:prstGeom>
          <a:solidFill>
            <a:srgbClr val="7A3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1216" y="445312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Montserrat"/>
              </a:rPr>
              <a:t>#7A35AE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416" y="4434840"/>
            <a:ext cx="1463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R: 122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G: 53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B: 174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1216" y="4800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Lato"/>
              </a:rPr>
              <a:t>Purple — candidate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Secondary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Colors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Lato"/>
              </a:rPr>
              <a:t>These create contrast against the main palette and should be used sparingly, for text, surfaces, and system states.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1016" y="1691640"/>
            <a:ext cx="1371600" cy="685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51216" y="17373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Montserrat"/>
              </a:rPr>
              <a:t>#1A1A1A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1216" y="20574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Lato"/>
              </a:rPr>
              <a:t>Ink — body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1016" y="2697480"/>
            <a:ext cx="1371600" cy="685800"/>
          </a:xfrm>
          <a:prstGeom prst="rect">
            <a:avLst/>
          </a:prstGeom>
          <a:solidFill>
            <a:srgbClr val="F6F6F6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51216" y="27432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Montserrat"/>
              </a:rPr>
              <a:t>#F6F6F6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1216" y="30632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Lato"/>
              </a:rPr>
              <a:t>Surface Soft — alt sections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1016" y="3703320"/>
            <a:ext cx="1371600" cy="685800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1216" y="374904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Montserrat"/>
              </a:rPr>
              <a:t>#1F8A4C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1216" y="406908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Lato"/>
              </a:rPr>
              <a:t>Success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1016" y="4709160"/>
            <a:ext cx="1371600" cy="685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51216" y="47548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Montserrat"/>
              </a:rPr>
              <a:t>#C0392B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1216" y="50749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Lato"/>
              </a:rPr>
              <a:t>Danger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Montserrat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Typography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Lato"/>
              </a:rPr>
              <a:t>Two contrasting typefaces: Montserrat for headlines, Lato for body. Both are standard Google Workspace fonts. Weights can vary, as long as the text stays legible.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1016" y="15544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Montserrat"/>
              </a:rPr>
              <a:t>Montserrat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1016" y="21031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A1A1A"/>
                </a:solidFill>
                <a:latin typeface="Montserrat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1016" y="27432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1176" y="21031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1176" y="27432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SemiBold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1336" y="21031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1336" y="27432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Bold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51016" y="3246120"/>
            <a:ext cx="60350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51016" y="3429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Lato"/>
              </a:rPr>
              <a:t>Lato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1016" y="3977639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A1A1A"/>
                </a:solidFill>
                <a:latin typeface="Lato"/>
              </a:rPr>
              <a:t>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1016" y="46177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Regular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1176" y="3977639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Lato"/>
              </a:rPr>
              <a:t>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1176" y="46177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5A5A"/>
                </a:solidFill>
                <a:latin typeface="Lato"/>
              </a:rPr>
              <a:t>Bold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Montserrat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Tone &amp;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Lato"/>
              </a:rPr>
              <a:t>Hopeful, trustworthy, civic, warm, data-informed, editorial.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8136" y="16002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Montserrat"/>
              </a:rPr>
              <a:t>Hopeful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9776" y="160020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“A choice-filled life is the standard.”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68136" y="2057400"/>
            <a:ext cx="658368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68136" y="222199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Montserrat"/>
              </a:rPr>
              <a:t>Trustworthy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776" y="22219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“500 students, 17 partners, by 2028–29.”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68136" y="2679192"/>
            <a:ext cx="658368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68136" y="2843784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Montserrat"/>
              </a:rPr>
              <a:t>Civic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776" y="284378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“Right here in Richmond, Virginia.”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68136" y="3300984"/>
            <a:ext cx="658368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68136" y="346557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Montserrat"/>
              </a:rPr>
              <a:t>Warm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9776" y="346557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“A student earning a paycheck and a future.”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68136" y="3922776"/>
            <a:ext cx="658368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68136" y="408736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Montserrat"/>
              </a:rPr>
              <a:t>Data-informed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9776" y="40873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“$23/hour minimum after graduation.”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68136" y="4544568"/>
            <a:ext cx="658368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68136" y="47091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Montserrat"/>
              </a:rPr>
              <a:t>Editorial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9776" y="470916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Lato"/>
              </a:rPr>
              <a:t>Full sentences, active voice, real quotes.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68136" y="5166360"/>
            <a:ext cx="658368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Montserrat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Voices &amp;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Lato"/>
              </a:rPr>
              <a:t>Approved leadership quotes, paired with headshots for editorial and press use.</a:t>
            </a:r>
          </a:p>
        </p:txBody>
      </p:sp>
      <p:pic>
        <p:nvPicPr>
          <p:cNvPr id="7" name="Picture 6" descr="jason-kamra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85256" y="141732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52184" y="1371600"/>
            <a:ext cx="6748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Lato"/>
              </a:rPr>
              <a:t>Our students deserve to graduate with real options. A choice-filled life is not a slogan; it's a standard we hold ourselves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2184" y="2075688"/>
            <a:ext cx="6748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A5A5A"/>
                </a:solidFill>
                <a:latin typeface="Montserrat"/>
              </a:rPr>
              <a:t>Jason Kamras — Superintendent, Richmond Public Schools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85256" y="2468880"/>
            <a:ext cx="731520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danny-avul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85256" y="265176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52184" y="2606040"/>
            <a:ext cx="6748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Lato"/>
              </a:rPr>
              <a:t>By building direct pipelines from the classroom to local employers, we ensure young people have a clear path to stable careers.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2184" y="3310128"/>
            <a:ext cx="6748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A5A5A"/>
                </a:solidFill>
                <a:latin typeface="Montserrat"/>
              </a:rPr>
              <a:t>Danny Avula — Mayor of Richmond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85256" y="3703320"/>
            <a:ext cx="731520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taikein-cooper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85256" y="3886200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52184" y="3840480"/>
            <a:ext cx="6748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Lato"/>
              </a:rPr>
              <a:t>Too many of our students leave high school without a real path to a career that can support a family. RVA Builds changes that.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2184" y="4544568"/>
            <a:ext cx="6748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A5A5A"/>
                </a:solidFill>
                <a:latin typeface="Montserrat"/>
              </a:rPr>
              <a:t>Taikein Cooper — CEO, Richmond Ed Fund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85256" y="4937760"/>
            <a:ext cx="731520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Montserrat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Lato"/>
              </a:rPr>
              <a:t>Every photo used in RVA Builds materials should show real working people, with genuine range in age, background, and trade.</a:t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Lato"/>
              </a:rPr>
              <a:t/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Lato"/>
              </a:rPr>
              <a:t>Stock imagery and illustration should not be used.</a:t>
            </a:r>
          </a:p>
        </p:txBody>
      </p:sp>
      <p:pic>
        <p:nvPicPr>
          <p:cNvPr id="7" name="Picture 6" descr="hero-connection.jpg"/>
          <p:cNvPicPr>
            <a:picLocks noChangeAspect="1"/>
          </p:cNvPicPr>
          <p:nvPr/>
        </p:nvPicPr>
        <p:blipFill>
          <a:blip r:embed="rId2"/>
          <a:srcRect l="27157" r="27157"/>
          <a:stretch>
            <a:fillRect/>
          </a:stretch>
        </p:blipFill>
        <p:spPr>
          <a:xfrm>
            <a:off x="4602376" y="502920"/>
            <a:ext cx="3529483" cy="5852160"/>
          </a:xfrm>
          <a:prstGeom prst="rect">
            <a:avLst/>
          </a:prstGeom>
        </p:spPr>
      </p:pic>
      <p:pic>
        <p:nvPicPr>
          <p:cNvPr id="8" name="Picture 7" descr="day-one-2024.jpg"/>
          <p:cNvPicPr>
            <a:picLocks noChangeAspect="1"/>
          </p:cNvPicPr>
          <p:nvPr/>
        </p:nvPicPr>
        <p:blipFill>
          <a:blip r:embed="rId3"/>
          <a:srcRect l="30064" r="30064"/>
          <a:stretch>
            <a:fillRect/>
          </a:stretch>
        </p:blipFill>
        <p:spPr>
          <a:xfrm>
            <a:off x="8205011" y="502920"/>
            <a:ext cx="1728165" cy="2889504"/>
          </a:xfrm>
          <a:prstGeom prst="rect">
            <a:avLst/>
          </a:prstGeom>
        </p:spPr>
      </p:pic>
      <p:pic>
        <p:nvPicPr>
          <p:cNvPr id="9" name="Picture 8" descr="tj-grad.jpg"/>
          <p:cNvPicPr>
            <a:picLocks noChangeAspect="1"/>
          </p:cNvPicPr>
          <p:nvPr/>
        </p:nvPicPr>
        <p:blipFill>
          <a:blip r:embed="rId4"/>
          <a:srcRect l="30054" r="30054"/>
          <a:stretch>
            <a:fillRect/>
          </a:stretch>
        </p:blipFill>
        <p:spPr>
          <a:xfrm>
            <a:off x="10006329" y="502920"/>
            <a:ext cx="1728165" cy="2889504"/>
          </a:xfrm>
          <a:prstGeom prst="rect">
            <a:avLst/>
          </a:prstGeom>
        </p:spPr>
      </p:pic>
      <p:pic>
        <p:nvPicPr>
          <p:cNvPr id="10" name="Picture 9" descr="teacher-orientation.jpg"/>
          <p:cNvPicPr>
            <a:picLocks noChangeAspect="1"/>
          </p:cNvPicPr>
          <p:nvPr/>
        </p:nvPicPr>
        <p:blipFill>
          <a:blip r:embed="rId5"/>
          <a:srcRect l="30064" r="30064"/>
          <a:stretch>
            <a:fillRect/>
          </a:stretch>
        </p:blipFill>
        <p:spPr>
          <a:xfrm>
            <a:off x="8205011" y="3465576"/>
            <a:ext cx="1728165" cy="2889504"/>
          </a:xfrm>
          <a:prstGeom prst="rect">
            <a:avLst/>
          </a:prstGeom>
        </p:spPr>
      </p:pic>
      <p:pic>
        <p:nvPicPr>
          <p:cNvPr id="11" name="Picture 10" descr="mission-tomorrow.jpg"/>
          <p:cNvPicPr>
            <a:picLocks noChangeAspect="1"/>
          </p:cNvPicPr>
          <p:nvPr/>
        </p:nvPicPr>
        <p:blipFill>
          <a:blip r:embed="rId6"/>
          <a:srcRect l="30064" r="30064"/>
          <a:stretch>
            <a:fillRect/>
          </a:stretch>
        </p:blipFill>
        <p:spPr>
          <a:xfrm>
            <a:off x="10006329" y="3465576"/>
            <a:ext cx="1728165" cy="2889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